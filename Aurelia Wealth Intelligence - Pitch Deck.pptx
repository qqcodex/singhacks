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52" y="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4091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1750"/>
            <a:ext cx="4300537" cy="3238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166E853-5873-3BB3-5878-B09BCC65F433}"/>
              </a:ext>
            </a:extLst>
          </p:cNvPr>
          <p:cNvSpPr/>
          <p:nvPr/>
        </p:nvSpPr>
        <p:spPr>
          <a:xfrm>
            <a:off x="0" y="5784783"/>
            <a:ext cx="12192000" cy="107321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/>
          <p:cNvSpPr txBox="1"/>
          <p:nvPr/>
        </p:nvSpPr>
        <p:spPr>
          <a:xfrm>
            <a:off x="571500" y="2663725"/>
            <a:ext cx="8026003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lang="en-US" sz="4350" b="1" i="0" u="none" dirty="0">
                <a:solidFill>
                  <a:srgbClr val="FFFFFF"/>
                </a:solidFill>
                <a:latin typeface="Poppins"/>
              </a:rPr>
              <a:t>Aurelia </a:t>
            </a:r>
            <a:r>
              <a:rPr sz="4350" b="1" i="0" u="none" dirty="0">
                <a:solidFill>
                  <a:srgbClr val="FFFFFF"/>
                </a:solidFill>
                <a:latin typeface="Poppins"/>
              </a:rPr>
              <a:t>Wealth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41799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0E0EF"/>
                </a:solidFill>
                <a:latin typeface="DM Sans"/>
              </a:rPr>
              <a:t>Turning synthetic multi-portfolio wealth data into explainable, client-specific decision support for Relationship Managers.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D96063-14A8-2E5D-0C00-23F8CBC9F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970" y="6064444"/>
            <a:ext cx="576393" cy="5936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75" y="476250"/>
            <a:ext cx="11451431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50" b="1" i="0" u="none" dirty="0">
                <a:solidFill>
                  <a:srgbClr val="FFFFFF"/>
                </a:solidFill>
                <a:latin typeface="Poppins"/>
              </a:rPr>
              <a:t>Recommendation System</a:t>
            </a:r>
            <a:endParaRPr sz="255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85103D-FFB2-6713-55A8-52B8B6441C41}"/>
              </a:ext>
            </a:extLst>
          </p:cNvPr>
          <p:cNvSpPr txBox="1"/>
          <p:nvPr/>
        </p:nvSpPr>
        <p:spPr>
          <a:xfrm>
            <a:off x="609600" y="840137"/>
            <a:ext cx="11268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Matches and recommends suitable financial products tailored to each client's specific risk profile, liquidity constraints, and investment objectives.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81EAFA-EAB9-387F-86D6-256F0C8BBA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858" t="-5900" r="11983" b="59280"/>
          <a:stretch>
            <a:fillRect/>
          </a:stretch>
        </p:blipFill>
        <p:spPr>
          <a:xfrm>
            <a:off x="4967180" y="1850355"/>
            <a:ext cx="7026095" cy="28951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BB90316-E8D8-9F00-A206-78C2686D1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26" y="2018397"/>
            <a:ext cx="4642954" cy="32587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5450681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50" b="1" i="0" u="none" dirty="0">
                <a:solidFill>
                  <a:srgbClr val="FFFFFF"/>
                </a:solidFill>
                <a:latin typeface="Poppins"/>
              </a:rPr>
              <a:t>Prioritization System</a:t>
            </a:r>
            <a:endParaRPr sz="255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53272A-F903-A6C9-4A7B-851777BE543F}"/>
              </a:ext>
            </a:extLst>
          </p:cNvPr>
          <p:cNvSpPr txBox="1"/>
          <p:nvPr/>
        </p:nvSpPr>
        <p:spPr>
          <a:xfrm>
            <a:off x="609600" y="868665"/>
            <a:ext cx="11229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Ranks detected client signals and portfolio gaps by financial urgency so Relationship Managers instantly target the highest-impact accounts.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A8BFFBC-42BE-7517-E165-2F50B873B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799" y="1907411"/>
            <a:ext cx="9314046" cy="4339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4375" y="476250"/>
            <a:ext cx="11451431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50" b="1" i="0" u="none" dirty="0">
                <a:solidFill>
                  <a:srgbClr val="FFFFFF"/>
                </a:solidFill>
                <a:latin typeface="Poppins"/>
              </a:rPr>
              <a:t>Risk Agent System</a:t>
            </a:r>
            <a:endParaRPr sz="255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E5C152-219F-0E4E-D5EE-2B96407C6315}"/>
              </a:ext>
            </a:extLst>
          </p:cNvPr>
          <p:cNvSpPr txBox="1"/>
          <p:nvPr/>
        </p:nvSpPr>
        <p:spPr>
          <a:xfrm>
            <a:off x="638689" y="879637"/>
            <a:ext cx="11451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Scans aggregated multi-portfolio assets to dynamically surface hidden concentration, leverage, currency, and liquidity risks with 100% deterministic precision.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411EFA8-AD6D-0290-4031-941E19C40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14" y="1876927"/>
            <a:ext cx="8776835" cy="3907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476250"/>
            <a:ext cx="5450681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50" b="1" i="0" u="none" dirty="0">
                <a:solidFill>
                  <a:srgbClr val="FFFFFF"/>
                </a:solidFill>
                <a:latin typeface="Poppins"/>
              </a:rPr>
              <a:t>Scenario Analysis Agent System </a:t>
            </a:r>
            <a:endParaRPr sz="255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95C44D-B438-50AD-0402-1CCEE8143FBC}"/>
              </a:ext>
            </a:extLst>
          </p:cNvPr>
          <p:cNvSpPr txBox="1"/>
          <p:nvPr/>
        </p:nvSpPr>
        <p:spPr>
          <a:xfrm>
            <a:off x="609600" y="868665"/>
            <a:ext cx="1158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Stress-tests client portfolios and proposed product allocations against historical market shocks (</a:t>
            </a:r>
            <a:r>
              <a:rPr lang="en-SG" b="1" dirty="0">
                <a:solidFill>
                  <a:schemeClr val="bg1"/>
                </a:solidFill>
                <a:latin typeface="+mn-lt"/>
              </a:rPr>
              <a:t>event_log.csv</a:t>
            </a:r>
            <a:r>
              <a:rPr lang="en-SG" b="1" dirty="0">
                <a:solidFill>
                  <a:schemeClr val="bg1"/>
                </a:solidFill>
              </a:rPr>
              <a:t>) to validate downside resilience before pitching.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B62B91-3966-1FD6-4579-0BAF3B225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975" t="41318" r="1975" b="-15888"/>
          <a:stretch>
            <a:fillRect/>
          </a:stretch>
        </p:blipFill>
        <p:spPr>
          <a:xfrm>
            <a:off x="2118475" y="2145729"/>
            <a:ext cx="7955050" cy="47122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117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DM Sans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Aqil Alias</cp:lastModifiedBy>
  <cp:revision>2</cp:revision>
  <dcterms:created xsi:type="dcterms:W3CDTF">2013-01-27T09:14:16Z</dcterms:created>
  <dcterms:modified xsi:type="dcterms:W3CDTF">2026-09-05T08:51:37Z</dcterms:modified>
  <cp:category/>
</cp:coreProperties>
</file>